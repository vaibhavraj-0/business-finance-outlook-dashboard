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lice" panose="020B0604020202020204" charset="0"/>
      <p:regular r:id="rId16"/>
    </p:embeddedFont>
    <p:embeddedFont>
      <p:font typeface="Alice Bold" panose="020B0604020202020204" charset="0"/>
      <p:regular r:id="rId17"/>
    </p:embeddedFon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2048849" y="0"/>
            <a:ext cx="0" cy="10287000"/>
          </a:xfrm>
          <a:prstGeom prst="line">
            <a:avLst/>
          </a:prstGeom>
          <a:ln w="19050" cap="flat">
            <a:solidFill>
              <a:srgbClr val="FB87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5130440" y="0"/>
            <a:ext cx="0" cy="10287000"/>
          </a:xfrm>
          <a:prstGeom prst="line">
            <a:avLst/>
          </a:prstGeom>
          <a:ln w="19050" cap="flat">
            <a:solidFill>
              <a:srgbClr val="FB87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8818245" y="0"/>
            <a:ext cx="0" cy="10287000"/>
          </a:xfrm>
          <a:prstGeom prst="line">
            <a:avLst/>
          </a:prstGeom>
          <a:ln w="19050" cap="flat">
            <a:solidFill>
              <a:srgbClr val="FB87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5494341"/>
            <a:ext cx="19132068" cy="0"/>
          </a:xfrm>
          <a:prstGeom prst="line">
            <a:avLst/>
          </a:prstGeom>
          <a:ln w="19050" cap="flat">
            <a:solidFill>
              <a:srgbClr val="FB87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8429328"/>
            <a:ext cx="19132068" cy="0"/>
          </a:xfrm>
          <a:prstGeom prst="line">
            <a:avLst/>
          </a:prstGeom>
          <a:ln w="19050" cap="flat">
            <a:solidFill>
              <a:srgbClr val="FB87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-422034" y="465180"/>
            <a:ext cx="19132068" cy="0"/>
          </a:xfrm>
          <a:prstGeom prst="line">
            <a:avLst/>
          </a:prstGeom>
          <a:ln w="19050" cap="flat">
            <a:solidFill>
              <a:srgbClr val="FB87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2259173" y="5714250"/>
            <a:ext cx="5098642" cy="1086031"/>
            <a:chOff x="0" y="0"/>
            <a:chExt cx="1962819" cy="4180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62819" cy="418088"/>
            </a:xfrm>
            <a:custGeom>
              <a:avLst/>
              <a:gdLst/>
              <a:ahLst/>
              <a:cxnLst/>
              <a:rect l="l" t="t" r="r" b="b"/>
              <a:pathLst>
                <a:path w="1962819" h="418088">
                  <a:moveTo>
                    <a:pt x="34924" y="0"/>
                  </a:moveTo>
                  <a:lnTo>
                    <a:pt x="1927895" y="0"/>
                  </a:lnTo>
                  <a:cubicBezTo>
                    <a:pt x="1947183" y="0"/>
                    <a:pt x="1962819" y="15636"/>
                    <a:pt x="1962819" y="34924"/>
                  </a:cubicBezTo>
                  <a:lnTo>
                    <a:pt x="1962819" y="383164"/>
                  </a:lnTo>
                  <a:cubicBezTo>
                    <a:pt x="1962819" y="392427"/>
                    <a:pt x="1959140" y="401310"/>
                    <a:pt x="1952590" y="407859"/>
                  </a:cubicBezTo>
                  <a:cubicBezTo>
                    <a:pt x="1946041" y="414409"/>
                    <a:pt x="1937158" y="418088"/>
                    <a:pt x="1927895" y="418088"/>
                  </a:cubicBezTo>
                  <a:lnTo>
                    <a:pt x="34924" y="418088"/>
                  </a:lnTo>
                  <a:cubicBezTo>
                    <a:pt x="15636" y="418088"/>
                    <a:pt x="0" y="402452"/>
                    <a:pt x="0" y="383164"/>
                  </a:cubicBezTo>
                  <a:lnTo>
                    <a:pt x="0" y="34924"/>
                  </a:lnTo>
                  <a:cubicBezTo>
                    <a:pt x="0" y="15636"/>
                    <a:pt x="15636" y="0"/>
                    <a:pt x="34924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62819" cy="4371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21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693690"/>
            <a:ext cx="5098642" cy="1086031"/>
            <a:chOff x="0" y="0"/>
            <a:chExt cx="1962819" cy="4180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62819" cy="418088"/>
            </a:xfrm>
            <a:custGeom>
              <a:avLst/>
              <a:gdLst/>
              <a:ahLst/>
              <a:cxnLst/>
              <a:rect l="l" t="t" r="r" b="b"/>
              <a:pathLst>
                <a:path w="1962819" h="418088">
                  <a:moveTo>
                    <a:pt x="34924" y="0"/>
                  </a:moveTo>
                  <a:lnTo>
                    <a:pt x="1927895" y="0"/>
                  </a:lnTo>
                  <a:cubicBezTo>
                    <a:pt x="1947183" y="0"/>
                    <a:pt x="1962819" y="15636"/>
                    <a:pt x="1962819" y="34924"/>
                  </a:cubicBezTo>
                  <a:lnTo>
                    <a:pt x="1962819" y="383164"/>
                  </a:lnTo>
                  <a:cubicBezTo>
                    <a:pt x="1962819" y="392427"/>
                    <a:pt x="1959140" y="401310"/>
                    <a:pt x="1952590" y="407859"/>
                  </a:cubicBezTo>
                  <a:cubicBezTo>
                    <a:pt x="1946041" y="414409"/>
                    <a:pt x="1937158" y="418088"/>
                    <a:pt x="1927895" y="418088"/>
                  </a:cubicBezTo>
                  <a:lnTo>
                    <a:pt x="34924" y="418088"/>
                  </a:lnTo>
                  <a:cubicBezTo>
                    <a:pt x="15636" y="418088"/>
                    <a:pt x="0" y="402452"/>
                    <a:pt x="0" y="383164"/>
                  </a:cubicBezTo>
                  <a:lnTo>
                    <a:pt x="0" y="34924"/>
                  </a:lnTo>
                  <a:cubicBezTo>
                    <a:pt x="0" y="15636"/>
                    <a:pt x="15636" y="0"/>
                    <a:pt x="34924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62819" cy="4371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21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1573988"/>
            <a:ext cx="18288000" cy="4374101"/>
            <a:chOff x="0" y="0"/>
            <a:chExt cx="5106589" cy="12213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06589" cy="1221388"/>
            </a:xfrm>
            <a:custGeom>
              <a:avLst/>
              <a:gdLst/>
              <a:ahLst/>
              <a:cxnLst/>
              <a:rect l="l" t="t" r="r" b="b"/>
              <a:pathLst>
                <a:path w="5106589" h="1221388">
                  <a:moveTo>
                    <a:pt x="0" y="0"/>
                  </a:moveTo>
                  <a:lnTo>
                    <a:pt x="5106589" y="0"/>
                  </a:lnTo>
                  <a:lnTo>
                    <a:pt x="5106589" y="1221388"/>
                  </a:lnTo>
                  <a:lnTo>
                    <a:pt x="0" y="1221388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42875"/>
              <a:ext cx="5106589" cy="1364263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9613"/>
                </a:lnSpc>
                <a:spcBef>
                  <a:spcPct val="0"/>
                </a:spcBef>
              </a:pPr>
              <a:r>
                <a:rPr lang="en-US" sz="6866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Business Finance Outlook - EDA Report using Python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3000" y="8713012"/>
            <a:ext cx="5098642" cy="1086031"/>
            <a:chOff x="0" y="0"/>
            <a:chExt cx="1962819" cy="4180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62819" cy="418088"/>
            </a:xfrm>
            <a:custGeom>
              <a:avLst/>
              <a:gdLst/>
              <a:ahLst/>
              <a:cxnLst/>
              <a:rect l="l" t="t" r="r" b="b"/>
              <a:pathLst>
                <a:path w="1962819" h="418088">
                  <a:moveTo>
                    <a:pt x="34924" y="0"/>
                  </a:moveTo>
                  <a:lnTo>
                    <a:pt x="1927895" y="0"/>
                  </a:lnTo>
                  <a:cubicBezTo>
                    <a:pt x="1947183" y="0"/>
                    <a:pt x="1962819" y="15636"/>
                    <a:pt x="1962819" y="34924"/>
                  </a:cubicBezTo>
                  <a:lnTo>
                    <a:pt x="1962819" y="383164"/>
                  </a:lnTo>
                  <a:cubicBezTo>
                    <a:pt x="1962819" y="392427"/>
                    <a:pt x="1959140" y="401310"/>
                    <a:pt x="1952590" y="407859"/>
                  </a:cubicBezTo>
                  <a:cubicBezTo>
                    <a:pt x="1946041" y="414409"/>
                    <a:pt x="1937158" y="418088"/>
                    <a:pt x="1927895" y="418088"/>
                  </a:cubicBezTo>
                  <a:lnTo>
                    <a:pt x="34924" y="418088"/>
                  </a:lnTo>
                  <a:cubicBezTo>
                    <a:pt x="15636" y="418088"/>
                    <a:pt x="0" y="402452"/>
                    <a:pt x="0" y="383164"/>
                  </a:cubicBezTo>
                  <a:lnTo>
                    <a:pt x="0" y="34924"/>
                  </a:lnTo>
                  <a:cubicBezTo>
                    <a:pt x="0" y="15636"/>
                    <a:pt x="15636" y="0"/>
                    <a:pt x="34924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962819" cy="4371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21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169072" y="7524603"/>
            <a:ext cx="5098642" cy="1086031"/>
            <a:chOff x="0" y="0"/>
            <a:chExt cx="1962819" cy="4180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62819" cy="418088"/>
            </a:xfrm>
            <a:custGeom>
              <a:avLst/>
              <a:gdLst/>
              <a:ahLst/>
              <a:cxnLst/>
              <a:rect l="l" t="t" r="r" b="b"/>
              <a:pathLst>
                <a:path w="1962819" h="418088">
                  <a:moveTo>
                    <a:pt x="34924" y="0"/>
                  </a:moveTo>
                  <a:lnTo>
                    <a:pt x="1927895" y="0"/>
                  </a:lnTo>
                  <a:cubicBezTo>
                    <a:pt x="1947183" y="0"/>
                    <a:pt x="1962819" y="15636"/>
                    <a:pt x="1962819" y="34924"/>
                  </a:cubicBezTo>
                  <a:lnTo>
                    <a:pt x="1962819" y="383164"/>
                  </a:lnTo>
                  <a:cubicBezTo>
                    <a:pt x="1962819" y="392427"/>
                    <a:pt x="1959140" y="401310"/>
                    <a:pt x="1952590" y="407859"/>
                  </a:cubicBezTo>
                  <a:cubicBezTo>
                    <a:pt x="1946041" y="414409"/>
                    <a:pt x="1937158" y="418088"/>
                    <a:pt x="1927895" y="418088"/>
                  </a:cubicBezTo>
                  <a:lnTo>
                    <a:pt x="34924" y="418088"/>
                  </a:lnTo>
                  <a:cubicBezTo>
                    <a:pt x="15636" y="418088"/>
                    <a:pt x="0" y="402452"/>
                    <a:pt x="0" y="383164"/>
                  </a:cubicBezTo>
                  <a:lnTo>
                    <a:pt x="0" y="34924"/>
                  </a:lnTo>
                  <a:cubicBezTo>
                    <a:pt x="0" y="15636"/>
                    <a:pt x="15636" y="0"/>
                    <a:pt x="34924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962819" cy="4371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213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58887"/>
            <a:ext cx="18288000" cy="1872584"/>
            <a:chOff x="0" y="0"/>
            <a:chExt cx="5106589" cy="522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6589" cy="522885"/>
            </a:xfrm>
            <a:custGeom>
              <a:avLst/>
              <a:gdLst/>
              <a:ahLst/>
              <a:cxnLst/>
              <a:rect l="l" t="t" r="r" b="b"/>
              <a:pathLst>
                <a:path w="5106589" h="522885">
                  <a:moveTo>
                    <a:pt x="0" y="0"/>
                  </a:moveTo>
                  <a:lnTo>
                    <a:pt x="5106589" y="0"/>
                  </a:lnTo>
                  <a:lnTo>
                    <a:pt x="5106589" y="522885"/>
                  </a:lnTo>
                  <a:lnTo>
                    <a:pt x="0" y="522885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5106589" cy="665760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9613"/>
                </a:lnSpc>
                <a:spcBef>
                  <a:spcPct val="0"/>
                </a:spcBef>
              </a:pPr>
              <a:r>
                <a:rPr lang="en-US" sz="6866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Table of Content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8386" y="2798241"/>
            <a:ext cx="16931228" cy="722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7118" lvl="1" indent="-553559" algn="ctr">
              <a:lnSpc>
                <a:spcPts val="7179"/>
              </a:lnSpc>
              <a:buFont typeface="Arial"/>
              <a:buChar char="•"/>
            </a:pPr>
            <a:r>
              <a:rPr lang="en-US" sz="512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Project Overview and Objectives</a:t>
            </a:r>
          </a:p>
          <a:p>
            <a:pPr marL="1107118" lvl="1" indent="-553559" algn="ctr">
              <a:lnSpc>
                <a:spcPts val="7179"/>
              </a:lnSpc>
              <a:buFont typeface="Arial"/>
              <a:buChar char="•"/>
            </a:pPr>
            <a:r>
              <a:rPr lang="en-US" sz="512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Project Architecture</a:t>
            </a:r>
          </a:p>
          <a:p>
            <a:pPr marL="1107118" lvl="1" indent="-553559" algn="ctr">
              <a:lnSpc>
                <a:spcPts val="7179"/>
              </a:lnSpc>
              <a:buFont typeface="Arial"/>
              <a:buChar char="•"/>
            </a:pPr>
            <a:r>
              <a:rPr lang="en-US" sz="512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dataset - a glimpse</a:t>
            </a:r>
          </a:p>
          <a:p>
            <a:pPr marL="1107118" lvl="1" indent="-553559" algn="ctr">
              <a:lnSpc>
                <a:spcPts val="7179"/>
              </a:lnSpc>
              <a:buFont typeface="Arial"/>
              <a:buChar char="•"/>
            </a:pPr>
            <a:r>
              <a:rPr lang="en-US" sz="512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Data Cleaning and handling missing values</a:t>
            </a:r>
          </a:p>
          <a:p>
            <a:pPr marL="1107118" lvl="1" indent="-553559" algn="ctr">
              <a:lnSpc>
                <a:spcPts val="7179"/>
              </a:lnSpc>
              <a:buFont typeface="Arial"/>
              <a:buChar char="•"/>
            </a:pPr>
            <a:r>
              <a:rPr lang="en-US" sz="512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key visuals, KPIs and other important metrics with analyses</a:t>
            </a:r>
          </a:p>
          <a:p>
            <a:pPr marL="1107118" lvl="1" indent="-553559" algn="ctr">
              <a:lnSpc>
                <a:spcPts val="7179"/>
              </a:lnSpc>
              <a:buFont typeface="Arial"/>
              <a:buChar char="•"/>
            </a:pPr>
            <a:r>
              <a:rPr lang="en-US" sz="512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Constraints</a:t>
            </a:r>
          </a:p>
          <a:p>
            <a:pPr marL="1107118" lvl="1" indent="-553559" algn="ctr">
              <a:lnSpc>
                <a:spcPts val="7179"/>
              </a:lnSpc>
              <a:spcBef>
                <a:spcPct val="0"/>
              </a:spcBef>
              <a:buFont typeface="Arial"/>
              <a:buChar char="•"/>
            </a:pPr>
            <a:r>
              <a:rPr lang="en-US" sz="512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58887"/>
            <a:ext cx="18288000" cy="1872584"/>
            <a:chOff x="0" y="0"/>
            <a:chExt cx="5106589" cy="522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6589" cy="522885"/>
            </a:xfrm>
            <a:custGeom>
              <a:avLst/>
              <a:gdLst/>
              <a:ahLst/>
              <a:cxnLst/>
              <a:rect l="l" t="t" r="r" b="b"/>
              <a:pathLst>
                <a:path w="5106589" h="522885">
                  <a:moveTo>
                    <a:pt x="0" y="0"/>
                  </a:moveTo>
                  <a:lnTo>
                    <a:pt x="5106589" y="0"/>
                  </a:lnTo>
                  <a:lnTo>
                    <a:pt x="5106589" y="522885"/>
                  </a:lnTo>
                  <a:lnTo>
                    <a:pt x="0" y="522885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5106589" cy="665760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9613"/>
                </a:lnSpc>
                <a:spcBef>
                  <a:spcPct val="0"/>
                </a:spcBef>
              </a:pPr>
              <a:r>
                <a:rPr lang="en-US" sz="6866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Project Overview and Objectives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43208" y="2848944"/>
            <a:ext cx="16995081" cy="645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This project involves analyzing a comprehensive financial dataset of a retail business across multiple years (2023–2029).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The key objectives are to:</a:t>
            </a:r>
          </a:p>
          <a:p>
            <a:pPr marL="755651" lvl="1" indent="-377825" algn="ctr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Understand trends across time, regions, product categories, and sales channels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and find out insights.</a:t>
            </a:r>
          </a:p>
          <a:p>
            <a:pPr marL="755651" lvl="1" indent="-377825" algn="ctr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Evaluate profitability and increase cost efficiency from the insights.</a:t>
            </a:r>
          </a:p>
          <a:p>
            <a:pPr marL="755651" lvl="1" indent="-377825" algn="ctr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Uncover actionable insights for long term strategic planning and resource allocation.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408"/>
            <a:ext cx="18288000" cy="1872584"/>
            <a:chOff x="0" y="0"/>
            <a:chExt cx="5106589" cy="522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6589" cy="522885"/>
            </a:xfrm>
            <a:custGeom>
              <a:avLst/>
              <a:gdLst/>
              <a:ahLst/>
              <a:cxnLst/>
              <a:rect l="l" t="t" r="r" b="b"/>
              <a:pathLst>
                <a:path w="5106589" h="522885">
                  <a:moveTo>
                    <a:pt x="0" y="0"/>
                  </a:moveTo>
                  <a:lnTo>
                    <a:pt x="5106589" y="0"/>
                  </a:lnTo>
                  <a:lnTo>
                    <a:pt x="5106589" y="522885"/>
                  </a:lnTo>
                  <a:lnTo>
                    <a:pt x="0" y="522885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5106589" cy="665760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9613"/>
                </a:lnSpc>
                <a:spcBef>
                  <a:spcPct val="0"/>
                </a:spcBef>
              </a:pPr>
              <a:r>
                <a:rPr lang="en-US" sz="6866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Project Architecture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4428354" y="2137487"/>
            <a:ext cx="10173378" cy="7780824"/>
          </a:xfrm>
          <a:custGeom>
            <a:avLst/>
            <a:gdLst/>
            <a:ahLst/>
            <a:cxnLst/>
            <a:rect l="l" t="t" r="r" b="b"/>
            <a:pathLst>
              <a:path w="10173378" h="7780824">
                <a:moveTo>
                  <a:pt x="0" y="0"/>
                </a:moveTo>
                <a:lnTo>
                  <a:pt x="10173379" y="0"/>
                </a:lnTo>
                <a:lnTo>
                  <a:pt x="10173379" y="7780824"/>
                </a:lnTo>
                <a:lnTo>
                  <a:pt x="0" y="778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01" b="-501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408"/>
            <a:ext cx="18288000" cy="1872584"/>
            <a:chOff x="0" y="0"/>
            <a:chExt cx="5106589" cy="522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6589" cy="522885"/>
            </a:xfrm>
            <a:custGeom>
              <a:avLst/>
              <a:gdLst/>
              <a:ahLst/>
              <a:cxnLst/>
              <a:rect l="l" t="t" r="r" b="b"/>
              <a:pathLst>
                <a:path w="5106589" h="522885">
                  <a:moveTo>
                    <a:pt x="0" y="0"/>
                  </a:moveTo>
                  <a:lnTo>
                    <a:pt x="5106589" y="0"/>
                  </a:lnTo>
                  <a:lnTo>
                    <a:pt x="5106589" y="522885"/>
                  </a:lnTo>
                  <a:lnTo>
                    <a:pt x="0" y="522885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5106589" cy="665760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9613"/>
                </a:lnSpc>
                <a:spcBef>
                  <a:spcPct val="0"/>
                </a:spcBef>
              </a:pPr>
              <a:r>
                <a:rPr lang="en-US" sz="6866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dataset - A glimpse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1864744" y="2164000"/>
            <a:ext cx="5394556" cy="4753962"/>
          </a:xfrm>
          <a:custGeom>
            <a:avLst/>
            <a:gdLst/>
            <a:ahLst/>
            <a:cxnLst/>
            <a:rect l="l" t="t" r="r" b="b"/>
            <a:pathLst>
              <a:path w="5394556" h="4753962">
                <a:moveTo>
                  <a:pt x="0" y="0"/>
                </a:moveTo>
                <a:lnTo>
                  <a:pt x="5394556" y="0"/>
                </a:lnTo>
                <a:lnTo>
                  <a:pt x="5394556" y="4753962"/>
                </a:lnTo>
                <a:lnTo>
                  <a:pt x="0" y="4753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9" r="-41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10134" y="5656225"/>
            <a:ext cx="10409668" cy="4180496"/>
          </a:xfrm>
          <a:custGeom>
            <a:avLst/>
            <a:gdLst/>
            <a:ahLst/>
            <a:cxnLst/>
            <a:rect l="l" t="t" r="r" b="b"/>
            <a:pathLst>
              <a:path w="10409668" h="4180496">
                <a:moveTo>
                  <a:pt x="0" y="0"/>
                </a:moveTo>
                <a:lnTo>
                  <a:pt x="10409668" y="0"/>
                </a:lnTo>
                <a:lnTo>
                  <a:pt x="10409668" y="4180496"/>
                </a:lnTo>
                <a:lnTo>
                  <a:pt x="0" y="4180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52" r="-92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7391" y="2795554"/>
            <a:ext cx="11392626" cy="265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6"/>
              </a:lnSpc>
            </a:pPr>
            <a:r>
              <a:rPr lang="en-US" sz="3026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Dataset contains 2500 rows and 11 columns namely Date, Region, Product_Category, Revenue, Expenses, Net_Profit, Customer_Count, Marketing_Spend, Employee_Cost, Sales_Channel and Order_Count.</a:t>
            </a:r>
          </a:p>
          <a:p>
            <a:pPr algn="ctr">
              <a:lnSpc>
                <a:spcPts val="4236"/>
              </a:lnSpc>
              <a:spcBef>
                <a:spcPct val="0"/>
              </a:spcBef>
            </a:pPr>
            <a:endParaRPr lang="en-US" sz="3026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104620" y="6860812"/>
            <a:ext cx="5921937" cy="3266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6301" lvl="1" indent="-288151" algn="ctr">
              <a:lnSpc>
                <a:spcPts val="3737"/>
              </a:lnSpc>
              <a:buFont typeface="Arial"/>
              <a:buChar char="•"/>
            </a:pPr>
            <a:r>
              <a:rPr lang="en-US" sz="266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Time frame: 2023-2029</a:t>
            </a:r>
          </a:p>
          <a:p>
            <a:pPr algn="ctr">
              <a:lnSpc>
                <a:spcPts val="3737"/>
              </a:lnSpc>
            </a:pPr>
            <a:r>
              <a:rPr lang="en-US" sz="266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key categorical variables: </a:t>
            </a:r>
          </a:p>
          <a:p>
            <a:pPr marL="576301" lvl="1" indent="-288151" algn="ctr">
              <a:lnSpc>
                <a:spcPts val="3737"/>
              </a:lnSpc>
              <a:buFont typeface="Arial"/>
              <a:buChar char="•"/>
            </a:pPr>
            <a:r>
              <a:rPr lang="en-US" sz="266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Product Categories: Grocery, Electronics, Clothing, Furniture</a:t>
            </a:r>
          </a:p>
          <a:p>
            <a:pPr marL="576301" lvl="1" indent="-288151" algn="ctr">
              <a:lnSpc>
                <a:spcPts val="3737"/>
              </a:lnSpc>
              <a:buFont typeface="Arial"/>
              <a:buChar char="•"/>
            </a:pPr>
            <a:r>
              <a:rPr lang="en-US" sz="266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Sales Channels: Online, Offline, Hybrid</a:t>
            </a:r>
          </a:p>
          <a:p>
            <a:pPr marL="576301" lvl="1" indent="-288151" algn="ctr">
              <a:lnSpc>
                <a:spcPts val="3737"/>
              </a:lnSpc>
              <a:buFont typeface="Arial"/>
              <a:buChar char="•"/>
            </a:pPr>
            <a:r>
              <a:rPr lang="en-US" sz="266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Regions: East, West, North, South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408"/>
            <a:ext cx="18288000" cy="1872584"/>
            <a:chOff x="0" y="0"/>
            <a:chExt cx="5106589" cy="522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6589" cy="522885"/>
            </a:xfrm>
            <a:custGeom>
              <a:avLst/>
              <a:gdLst/>
              <a:ahLst/>
              <a:cxnLst/>
              <a:rect l="l" t="t" r="r" b="b"/>
              <a:pathLst>
                <a:path w="5106589" h="522885">
                  <a:moveTo>
                    <a:pt x="0" y="0"/>
                  </a:moveTo>
                  <a:lnTo>
                    <a:pt x="5106589" y="0"/>
                  </a:lnTo>
                  <a:lnTo>
                    <a:pt x="5106589" y="522885"/>
                  </a:lnTo>
                  <a:lnTo>
                    <a:pt x="0" y="522885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5106589" cy="665760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9613"/>
                </a:lnSpc>
                <a:spcBef>
                  <a:spcPct val="0"/>
                </a:spcBef>
              </a:pPr>
              <a:r>
                <a:rPr lang="en-US" sz="6866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Data Cleaning and handling missing values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353674" y="2415819"/>
            <a:ext cx="11205035" cy="7435117"/>
          </a:xfrm>
          <a:custGeom>
            <a:avLst/>
            <a:gdLst/>
            <a:ahLst/>
            <a:cxnLst/>
            <a:rect l="l" t="t" r="r" b="b"/>
            <a:pathLst>
              <a:path w="11205035" h="7435117">
                <a:moveTo>
                  <a:pt x="0" y="0"/>
                </a:moveTo>
                <a:lnTo>
                  <a:pt x="11205035" y="0"/>
                </a:lnTo>
                <a:lnTo>
                  <a:pt x="11205035" y="7435117"/>
                </a:lnTo>
                <a:lnTo>
                  <a:pt x="0" y="7435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558709" y="4211025"/>
            <a:ext cx="6525641" cy="322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9"/>
              </a:lnSpc>
              <a:spcBef>
                <a:spcPct val="0"/>
              </a:spcBef>
            </a:pPr>
            <a:r>
              <a:rPr lang="en-US" sz="612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step 1:</a:t>
            </a:r>
            <a:r>
              <a:rPr lang="en-US" sz="6128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Dealt with NaN values to get rid of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408"/>
            <a:ext cx="18288000" cy="1872584"/>
            <a:chOff x="0" y="0"/>
            <a:chExt cx="5106589" cy="522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6589" cy="522885"/>
            </a:xfrm>
            <a:custGeom>
              <a:avLst/>
              <a:gdLst/>
              <a:ahLst/>
              <a:cxnLst/>
              <a:rect l="l" t="t" r="r" b="b"/>
              <a:pathLst>
                <a:path w="5106589" h="522885">
                  <a:moveTo>
                    <a:pt x="0" y="0"/>
                  </a:moveTo>
                  <a:lnTo>
                    <a:pt x="5106589" y="0"/>
                  </a:lnTo>
                  <a:lnTo>
                    <a:pt x="5106589" y="522885"/>
                  </a:lnTo>
                  <a:lnTo>
                    <a:pt x="0" y="522885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5106589" cy="665760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9613"/>
                </a:lnSpc>
                <a:spcBef>
                  <a:spcPct val="0"/>
                </a:spcBef>
              </a:pPr>
              <a:r>
                <a:rPr lang="en-US" sz="6866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Data Cleaning and handling missing values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505028" y="2148509"/>
            <a:ext cx="10769985" cy="7791560"/>
          </a:xfrm>
          <a:custGeom>
            <a:avLst/>
            <a:gdLst/>
            <a:ahLst/>
            <a:cxnLst/>
            <a:rect l="l" t="t" r="r" b="b"/>
            <a:pathLst>
              <a:path w="10769985" h="7791560">
                <a:moveTo>
                  <a:pt x="0" y="0"/>
                </a:moveTo>
                <a:lnTo>
                  <a:pt x="10769985" y="0"/>
                </a:lnTo>
                <a:lnTo>
                  <a:pt x="10769985" y="7791559"/>
                </a:lnTo>
                <a:lnTo>
                  <a:pt x="0" y="7791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275013" y="3950068"/>
            <a:ext cx="6389539" cy="4237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  <a:spcBef>
                <a:spcPct val="0"/>
              </a:spcBef>
            </a:pPr>
            <a:r>
              <a:rPr lang="en-US" sz="6035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Step 2: </a:t>
            </a:r>
            <a:r>
              <a:rPr lang="en-US" sz="603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Changed datatypes to string, integer, wherever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0161" y="2274072"/>
            <a:ext cx="8389547" cy="7790294"/>
          </a:xfrm>
          <a:custGeom>
            <a:avLst/>
            <a:gdLst/>
            <a:ahLst/>
            <a:cxnLst/>
            <a:rect l="l" t="t" r="r" b="b"/>
            <a:pathLst>
              <a:path w="8389547" h="7790294">
                <a:moveTo>
                  <a:pt x="0" y="0"/>
                </a:moveTo>
                <a:lnTo>
                  <a:pt x="8389547" y="0"/>
                </a:lnTo>
                <a:lnTo>
                  <a:pt x="8389547" y="7790294"/>
                </a:lnTo>
                <a:lnTo>
                  <a:pt x="0" y="7790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929623" y="2092428"/>
            <a:ext cx="7155120" cy="2794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Step 3: </a:t>
            </a:r>
            <a:r>
              <a:rPr lang="en-US" sz="39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Promoted first row as header (To be done right before importing data to any BI tool like </a:t>
            </a:r>
            <a:r>
              <a:rPr lang="en-US" sz="3999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PowerBI</a:t>
            </a:r>
            <a:r>
              <a:rPr lang="en-US" sz="39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).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2408"/>
            <a:ext cx="18288000" cy="1872584"/>
            <a:chOff x="0" y="0"/>
            <a:chExt cx="5106589" cy="5228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06589" cy="522885"/>
            </a:xfrm>
            <a:custGeom>
              <a:avLst/>
              <a:gdLst/>
              <a:ahLst/>
              <a:cxnLst/>
              <a:rect l="l" t="t" r="r" b="b"/>
              <a:pathLst>
                <a:path w="5106589" h="522885">
                  <a:moveTo>
                    <a:pt x="0" y="0"/>
                  </a:moveTo>
                  <a:lnTo>
                    <a:pt x="5106589" y="0"/>
                  </a:lnTo>
                  <a:lnTo>
                    <a:pt x="5106589" y="522885"/>
                  </a:lnTo>
                  <a:lnTo>
                    <a:pt x="0" y="522885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42875"/>
              <a:ext cx="5106589" cy="665760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9613"/>
                </a:lnSpc>
                <a:spcBef>
                  <a:spcPct val="0"/>
                </a:spcBef>
              </a:pPr>
              <a:r>
                <a:rPr lang="en-US" sz="6866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Data Cleaning and handling missing values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824913" y="4686300"/>
            <a:ext cx="7240165" cy="478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7"/>
              </a:lnSpc>
              <a:spcBef>
                <a:spcPct val="0"/>
              </a:spcBef>
            </a:pPr>
            <a:r>
              <a:rPr lang="en-US" sz="3862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At last, we can see 1929 rows(initially 2500, which suggest data entry errors), which we will be using for initial Data visualization, EDA, Univariate, Bivariate, multivariate and categorical analyses further.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1400" y="2641453"/>
            <a:ext cx="8956252" cy="7063711"/>
          </a:xfrm>
          <a:custGeom>
            <a:avLst/>
            <a:gdLst/>
            <a:ahLst/>
            <a:cxnLst/>
            <a:rect l="l" t="t" r="r" b="b"/>
            <a:pathLst>
              <a:path w="8956252" h="7063711">
                <a:moveTo>
                  <a:pt x="0" y="0"/>
                </a:moveTo>
                <a:lnTo>
                  <a:pt x="8956252" y="0"/>
                </a:lnTo>
                <a:lnTo>
                  <a:pt x="8956252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92408"/>
            <a:ext cx="18288000" cy="2067525"/>
            <a:chOff x="0" y="0"/>
            <a:chExt cx="5106589" cy="5773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06589" cy="577319"/>
            </a:xfrm>
            <a:custGeom>
              <a:avLst/>
              <a:gdLst/>
              <a:ahLst/>
              <a:cxnLst/>
              <a:rect l="l" t="t" r="r" b="b"/>
              <a:pathLst>
                <a:path w="5106589" h="577319">
                  <a:moveTo>
                    <a:pt x="0" y="0"/>
                  </a:moveTo>
                  <a:lnTo>
                    <a:pt x="5106589" y="0"/>
                  </a:lnTo>
                  <a:lnTo>
                    <a:pt x="5106589" y="577319"/>
                  </a:lnTo>
                  <a:lnTo>
                    <a:pt x="0" y="577319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5106589" cy="691619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key visuals, KPIs and other important metrics with analyses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354198" y="2253176"/>
            <a:ext cx="5603956" cy="96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72"/>
              </a:lnSpc>
              <a:spcBef>
                <a:spcPct val="0"/>
              </a:spcBef>
            </a:pPr>
            <a:r>
              <a:rPr lang="en-US" sz="505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univariate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78163" y="3136563"/>
            <a:ext cx="8225126" cy="6733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3909" lvl="1" indent="-401955" algn="ctr">
              <a:lnSpc>
                <a:spcPts val="5212"/>
              </a:lnSpc>
              <a:spcBef>
                <a:spcPct val="0"/>
              </a:spcBef>
              <a:buAutoNum type="arabicPeriod"/>
            </a:pPr>
            <a:r>
              <a:rPr lang="en-US" sz="3723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Revenue distribution</a:t>
            </a:r>
          </a:p>
          <a:p>
            <a:pPr marL="674372" lvl="1" indent="-337186" algn="ctr">
              <a:lnSpc>
                <a:spcPts val="4372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KDE line has two visible peaks—one around ₹40,000–50,000, and another around ₹160,000–170,000. This suggests a bi-modal distribution, indicating two distinct groups of transactions or customer segments:</a:t>
            </a:r>
          </a:p>
          <a:p>
            <a:pPr algn="ctr">
              <a:lnSpc>
                <a:spcPts val="4372"/>
              </a:lnSpc>
              <a:spcBef>
                <a:spcPct val="0"/>
              </a:spcBef>
            </a:pPr>
            <a:r>
              <a:rPr lang="en-US" sz="3123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A. Lower-revenue transactions (possibly low-cost product categories like groceries or small electronics).</a:t>
            </a:r>
          </a:p>
          <a:p>
            <a:pPr algn="ctr">
              <a:lnSpc>
                <a:spcPts val="4372"/>
              </a:lnSpc>
              <a:spcBef>
                <a:spcPct val="0"/>
              </a:spcBef>
            </a:pPr>
            <a:r>
              <a:rPr lang="en-US" sz="3123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B. Higher-revenue transactions (Bulk orders)</a:t>
            </a:r>
          </a:p>
          <a:p>
            <a:pPr algn="ctr">
              <a:lnSpc>
                <a:spcPts val="4372"/>
              </a:lnSpc>
              <a:spcBef>
                <a:spcPct val="0"/>
              </a:spcBef>
            </a:pPr>
            <a:endParaRPr lang="en-US" sz="3123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3144" y="2583818"/>
            <a:ext cx="4451525" cy="3609345"/>
          </a:xfrm>
          <a:custGeom>
            <a:avLst/>
            <a:gdLst/>
            <a:ahLst/>
            <a:cxnLst/>
            <a:rect l="l" t="t" r="r" b="b"/>
            <a:pathLst>
              <a:path w="4451525" h="3609345">
                <a:moveTo>
                  <a:pt x="0" y="0"/>
                </a:moveTo>
                <a:lnTo>
                  <a:pt x="4451525" y="0"/>
                </a:lnTo>
                <a:lnTo>
                  <a:pt x="4451525" y="3609344"/>
                </a:lnTo>
                <a:lnTo>
                  <a:pt x="0" y="3609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92408"/>
            <a:ext cx="18288000" cy="2067525"/>
            <a:chOff x="0" y="0"/>
            <a:chExt cx="5106589" cy="5773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06589" cy="577319"/>
            </a:xfrm>
            <a:custGeom>
              <a:avLst/>
              <a:gdLst/>
              <a:ahLst/>
              <a:cxnLst/>
              <a:rect l="l" t="t" r="r" b="b"/>
              <a:pathLst>
                <a:path w="5106589" h="577319">
                  <a:moveTo>
                    <a:pt x="0" y="0"/>
                  </a:moveTo>
                  <a:lnTo>
                    <a:pt x="5106589" y="0"/>
                  </a:lnTo>
                  <a:lnTo>
                    <a:pt x="5106589" y="577319"/>
                  </a:lnTo>
                  <a:lnTo>
                    <a:pt x="0" y="577319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5106589" cy="691619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key visuals, KPIs and other important metrics with analyses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2449556" y="6053788"/>
            <a:ext cx="4189161" cy="4072145"/>
          </a:xfrm>
          <a:custGeom>
            <a:avLst/>
            <a:gdLst/>
            <a:ahLst/>
            <a:cxnLst/>
            <a:rect l="l" t="t" r="r" b="b"/>
            <a:pathLst>
              <a:path w="4189161" h="4072145">
                <a:moveTo>
                  <a:pt x="0" y="0"/>
                </a:moveTo>
                <a:lnTo>
                  <a:pt x="4189161" y="0"/>
                </a:lnTo>
                <a:lnTo>
                  <a:pt x="4189161" y="4072146"/>
                </a:lnTo>
                <a:lnTo>
                  <a:pt x="0" y="4072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17824" y="2259606"/>
            <a:ext cx="10520894" cy="3668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5"/>
              </a:lnSpc>
            </a:pPr>
            <a:r>
              <a:rPr lang="en-US" sz="346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2. Sales count by product category</a:t>
            </a:r>
          </a:p>
          <a:p>
            <a:pPr marL="748854" lvl="1" indent="-374427" algn="ctr">
              <a:lnSpc>
                <a:spcPts val="4855"/>
              </a:lnSpc>
              <a:buFont typeface="Arial"/>
              <a:buChar char="•"/>
            </a:pPr>
            <a:r>
              <a:rPr lang="en-US" sz="3468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We can see the highest sales count by product category is  electronics. </a:t>
            </a:r>
          </a:p>
          <a:p>
            <a:pPr marL="748854" lvl="1" indent="-374427" algn="ctr">
              <a:lnSpc>
                <a:spcPts val="4855"/>
              </a:lnSpc>
              <a:buFont typeface="Arial"/>
              <a:buChar char="•"/>
            </a:pPr>
            <a:r>
              <a:rPr lang="en-US" sz="3468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Also, we can infer that there’s an increasing trend in sales count from furniture,  clothing, grocery to electronics.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3144" y="6278887"/>
            <a:ext cx="10314882" cy="384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9"/>
              </a:lnSpc>
            </a:pPr>
            <a:r>
              <a:rPr lang="en-US" sz="401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Bivariate Analysis</a:t>
            </a:r>
          </a:p>
          <a:p>
            <a:pPr marL="712563" lvl="1" indent="-356281" algn="ctr">
              <a:lnSpc>
                <a:spcPts val="4620"/>
              </a:lnSpc>
              <a:buAutoNum type="arabicPeriod"/>
            </a:pPr>
            <a:r>
              <a:rPr lang="en-US" sz="33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Revenue vs Net_Profit by product Category</a:t>
            </a:r>
          </a:p>
          <a:p>
            <a:pPr marL="622170" lvl="1" indent="-311085" algn="ctr">
              <a:lnSpc>
                <a:spcPts val="4034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Plot shows a clear, strong positive correlation between Revenue and Net Profit. As revenue increases, net profit also tends to increase.</a:t>
            </a:r>
          </a:p>
          <a:p>
            <a:pPr marL="622170" lvl="1" indent="-311085" algn="ctr">
              <a:lnSpc>
                <a:spcPts val="4034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There is no single category dominating any particular part in this plot.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408"/>
            <a:ext cx="18288000" cy="2067525"/>
            <a:chOff x="0" y="0"/>
            <a:chExt cx="5106589" cy="5773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6589" cy="577319"/>
            </a:xfrm>
            <a:custGeom>
              <a:avLst/>
              <a:gdLst/>
              <a:ahLst/>
              <a:cxnLst/>
              <a:rect l="l" t="t" r="r" b="b"/>
              <a:pathLst>
                <a:path w="5106589" h="577319">
                  <a:moveTo>
                    <a:pt x="0" y="0"/>
                  </a:moveTo>
                  <a:lnTo>
                    <a:pt x="5106589" y="0"/>
                  </a:lnTo>
                  <a:lnTo>
                    <a:pt x="5106589" y="577319"/>
                  </a:lnTo>
                  <a:lnTo>
                    <a:pt x="0" y="577319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5106589" cy="691619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key visuals, KPIs and other important metrics with analyses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1763815" y="2349233"/>
            <a:ext cx="5276736" cy="3994906"/>
          </a:xfrm>
          <a:custGeom>
            <a:avLst/>
            <a:gdLst/>
            <a:ahLst/>
            <a:cxnLst/>
            <a:rect l="l" t="t" r="r" b="b"/>
            <a:pathLst>
              <a:path w="5276736" h="3994906">
                <a:moveTo>
                  <a:pt x="0" y="0"/>
                </a:moveTo>
                <a:lnTo>
                  <a:pt x="5276736" y="0"/>
                </a:lnTo>
                <a:lnTo>
                  <a:pt x="5276736" y="3994906"/>
                </a:lnTo>
                <a:lnTo>
                  <a:pt x="0" y="3994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6530327"/>
            <a:ext cx="5193818" cy="3653531"/>
          </a:xfrm>
          <a:custGeom>
            <a:avLst/>
            <a:gdLst/>
            <a:ahLst/>
            <a:cxnLst/>
            <a:rect l="l" t="t" r="r" b="b"/>
            <a:pathLst>
              <a:path w="5193818" h="3653531">
                <a:moveTo>
                  <a:pt x="0" y="0"/>
                </a:moveTo>
                <a:lnTo>
                  <a:pt x="5193818" y="0"/>
                </a:lnTo>
                <a:lnTo>
                  <a:pt x="5193818" y="3653531"/>
                </a:lnTo>
                <a:lnTo>
                  <a:pt x="0" y="3653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7704" y="2439270"/>
            <a:ext cx="10782637" cy="3748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6"/>
              </a:lnSpc>
            </a:pPr>
            <a:r>
              <a:rPr lang="en-US" sz="355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2. Order count by Region</a:t>
            </a:r>
          </a:p>
          <a:p>
            <a:pPr marL="767484" lvl="1" indent="-383742" algn="ctr">
              <a:lnSpc>
                <a:spcPts val="4976"/>
              </a:lnSpc>
              <a:buFont typeface="Arial"/>
              <a:buChar char="•"/>
            </a:pPr>
            <a:r>
              <a:rPr lang="en-US" sz="3554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We can see that all four regions are similar in case of IQR, median and spread.</a:t>
            </a:r>
          </a:p>
          <a:p>
            <a:pPr marL="767484" lvl="1" indent="-383742" algn="ctr">
              <a:lnSpc>
                <a:spcPts val="4976"/>
              </a:lnSpc>
              <a:buFont typeface="Arial"/>
              <a:buChar char="•"/>
            </a:pPr>
            <a:r>
              <a:rPr lang="en-US" sz="3554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Symmetry and similarity of this box plot suggest that the data is well balanced, which means there is quite small chance of outliers.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79432" y="6344139"/>
            <a:ext cx="9368765" cy="341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3"/>
              </a:lnSpc>
            </a:pPr>
            <a:r>
              <a:rPr lang="en-US" sz="390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Multivariate Analysis</a:t>
            </a:r>
          </a:p>
          <a:p>
            <a:pPr algn="ctr">
              <a:lnSpc>
                <a:spcPts val="4324"/>
              </a:lnSpc>
            </a:pPr>
            <a:r>
              <a:rPr lang="en-US" sz="3088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1. Revenue by region and Product category</a:t>
            </a:r>
          </a:p>
          <a:p>
            <a:pPr marL="666848" lvl="1" indent="-333424" algn="ctr">
              <a:lnSpc>
                <a:spcPts val="4324"/>
              </a:lnSpc>
              <a:buFont typeface="Arial"/>
              <a:buChar char="•"/>
            </a:pPr>
            <a:r>
              <a:rPr lang="en-US" sz="3088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For each product category, revenue is similar with only minor differences.</a:t>
            </a:r>
          </a:p>
          <a:p>
            <a:pPr marL="666848" lvl="1" indent="-333424" algn="ctr">
              <a:lnSpc>
                <a:spcPts val="4324"/>
              </a:lnSpc>
              <a:buFont typeface="Arial"/>
              <a:buChar char="•"/>
            </a:pPr>
            <a:r>
              <a:rPr lang="en-US" sz="3088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In three product categories, East region is leading but the difference is not very high and noticeable.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408"/>
            <a:ext cx="18288000" cy="2067525"/>
            <a:chOff x="0" y="0"/>
            <a:chExt cx="5106589" cy="5773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6589" cy="577319"/>
            </a:xfrm>
            <a:custGeom>
              <a:avLst/>
              <a:gdLst/>
              <a:ahLst/>
              <a:cxnLst/>
              <a:rect l="l" t="t" r="r" b="b"/>
              <a:pathLst>
                <a:path w="5106589" h="577319">
                  <a:moveTo>
                    <a:pt x="0" y="0"/>
                  </a:moveTo>
                  <a:lnTo>
                    <a:pt x="5106589" y="0"/>
                  </a:lnTo>
                  <a:lnTo>
                    <a:pt x="5106589" y="577319"/>
                  </a:lnTo>
                  <a:lnTo>
                    <a:pt x="0" y="577319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5106589" cy="691619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key visuals, KPIs and other important metrics with analyses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3017861"/>
            <a:ext cx="8751991" cy="6240439"/>
          </a:xfrm>
          <a:custGeom>
            <a:avLst/>
            <a:gdLst/>
            <a:ahLst/>
            <a:cxnLst/>
            <a:rect l="l" t="t" r="r" b="b"/>
            <a:pathLst>
              <a:path w="8751991" h="6240439">
                <a:moveTo>
                  <a:pt x="0" y="0"/>
                </a:moveTo>
                <a:lnTo>
                  <a:pt x="8751991" y="0"/>
                </a:lnTo>
                <a:lnTo>
                  <a:pt x="8751991" y="6240439"/>
                </a:lnTo>
                <a:lnTo>
                  <a:pt x="0" y="624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7641" y="2350891"/>
            <a:ext cx="8594263" cy="681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2"/>
              </a:lnSpc>
            </a:pPr>
            <a:r>
              <a:rPr lang="en-US" sz="3865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2. Net Profit vs Expenses by Sales Channel </a:t>
            </a:r>
          </a:p>
          <a:p>
            <a:pPr marL="834661" lvl="1" indent="-417330" algn="ctr">
              <a:lnSpc>
                <a:spcPts val="5412"/>
              </a:lnSpc>
              <a:buFont typeface="Arial"/>
              <a:buChar char="•"/>
            </a:pPr>
            <a:r>
              <a:rPr lang="en-US" sz="386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Strong negative correlation between expenses and net profit can be seen which means higher expenses generally lead to lower net profit.</a:t>
            </a:r>
          </a:p>
          <a:p>
            <a:pPr marL="834661" lvl="1" indent="-417330" algn="ctr">
              <a:lnSpc>
                <a:spcPts val="5412"/>
              </a:lnSpc>
              <a:buFont typeface="Arial"/>
              <a:buChar char="•"/>
            </a:pPr>
            <a:r>
              <a:rPr lang="en-US" sz="386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No single sales channel dominates either high or low profit/expense areas.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408"/>
            <a:ext cx="18288000" cy="1872584"/>
            <a:chOff x="0" y="0"/>
            <a:chExt cx="5106589" cy="522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6589" cy="522885"/>
            </a:xfrm>
            <a:custGeom>
              <a:avLst/>
              <a:gdLst/>
              <a:ahLst/>
              <a:cxnLst/>
              <a:rect l="l" t="t" r="r" b="b"/>
              <a:pathLst>
                <a:path w="5106589" h="522885">
                  <a:moveTo>
                    <a:pt x="0" y="0"/>
                  </a:moveTo>
                  <a:lnTo>
                    <a:pt x="5106589" y="0"/>
                  </a:lnTo>
                  <a:lnTo>
                    <a:pt x="5106589" y="522885"/>
                  </a:lnTo>
                  <a:lnTo>
                    <a:pt x="0" y="522885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5106589" cy="665760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9613"/>
                </a:lnSpc>
                <a:spcBef>
                  <a:spcPct val="0"/>
                </a:spcBef>
              </a:pPr>
              <a:r>
                <a:rPr lang="en-US" sz="6866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Constraints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4725" y="2481931"/>
            <a:ext cx="17898550" cy="7059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9"/>
              </a:lnSpc>
            </a:pPr>
            <a:r>
              <a:rPr lang="en-US" sz="362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While the dataset tries give a complete financial overview to the stakeholders, several constraints may limit the depth and accuracy of insights. </a:t>
            </a:r>
          </a:p>
          <a:p>
            <a:pPr algn="ctr">
              <a:lnSpc>
                <a:spcPts val="5069"/>
              </a:lnSpc>
            </a:pPr>
            <a:endParaRPr lang="en-US" sz="3621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marL="781818" lvl="1" indent="-390909" algn="ctr">
              <a:lnSpc>
                <a:spcPts val="5069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</a:t>
            </a:r>
            <a:r>
              <a:rPr lang="en-US" sz="3621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absence of external economic indicators</a:t>
            </a:r>
            <a:r>
              <a:rPr lang="en-US" sz="362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—such as inflation rates, seasonality effects, and competitive landscape—prevents a more contextualized interpretation of metrics and KPIs.</a:t>
            </a:r>
          </a:p>
          <a:p>
            <a:pPr marL="781818" lvl="1" indent="-390909" algn="ctr">
              <a:lnSpc>
                <a:spcPts val="5069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Dataset includes information by product categories, however, it </a:t>
            </a:r>
            <a:r>
              <a:rPr lang="en-US" sz="3621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lacks product-level granularity</a:t>
            </a:r>
            <a:r>
              <a:rPr lang="en-US" sz="362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, which limits the ability to drill down into high- or low-performing SKUs.</a:t>
            </a:r>
          </a:p>
          <a:p>
            <a:pPr marL="781818" lvl="1" indent="-390909" algn="ctr">
              <a:lnSpc>
                <a:spcPts val="5069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Lack of integration with inventory or supply chain data</a:t>
            </a:r>
            <a:r>
              <a:rPr lang="en-US" sz="362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restricts a better view of operational efficiency and logistics-related costs.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408"/>
            <a:ext cx="18288000" cy="1872584"/>
            <a:chOff x="0" y="0"/>
            <a:chExt cx="5106589" cy="522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6589" cy="522885"/>
            </a:xfrm>
            <a:custGeom>
              <a:avLst/>
              <a:gdLst/>
              <a:ahLst/>
              <a:cxnLst/>
              <a:rect l="l" t="t" r="r" b="b"/>
              <a:pathLst>
                <a:path w="5106589" h="522885">
                  <a:moveTo>
                    <a:pt x="0" y="0"/>
                  </a:moveTo>
                  <a:lnTo>
                    <a:pt x="5106589" y="0"/>
                  </a:lnTo>
                  <a:lnTo>
                    <a:pt x="5106589" y="522885"/>
                  </a:lnTo>
                  <a:lnTo>
                    <a:pt x="0" y="522885"/>
                  </a:lnTo>
                  <a:close/>
                </a:path>
              </a:pathLst>
            </a:custGeom>
            <a:solidFill>
              <a:srgbClr val="2E000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5106589" cy="665760"/>
            </a:xfrm>
            <a:prstGeom prst="rect">
              <a:avLst/>
            </a:prstGeom>
          </p:spPr>
          <p:txBody>
            <a:bodyPr lIns="50409" tIns="50409" rIns="50409" bIns="50409" rtlCol="0" anchor="ctr"/>
            <a:lstStyle/>
            <a:p>
              <a:pPr algn="ctr">
                <a:lnSpc>
                  <a:spcPts val="9613"/>
                </a:lnSpc>
                <a:spcBef>
                  <a:spcPct val="0"/>
                </a:spcBef>
              </a:pPr>
              <a:r>
                <a:rPr lang="en-US" sz="6866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Conclusion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44473" y="2148229"/>
            <a:ext cx="16599054" cy="8138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9581" lvl="1" indent="-449790" algn="ctr">
              <a:lnSpc>
                <a:spcPts val="5833"/>
              </a:lnSpc>
              <a:buFont typeface="Arial"/>
              <a:buChar char="•"/>
            </a:pPr>
            <a:r>
              <a:rPr lang="en-US" sz="4166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Revenue distribution has two peaks (one lower and one higher) indication two sets of customers or orders volumes or products.</a:t>
            </a:r>
          </a:p>
          <a:p>
            <a:pPr marL="899581" lvl="1" indent="-449790" algn="ctr">
              <a:lnSpc>
                <a:spcPts val="5833"/>
              </a:lnSpc>
              <a:buFont typeface="Arial"/>
              <a:buChar char="•"/>
            </a:pPr>
            <a:r>
              <a:rPr lang="en-US" sz="4166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Electronics is the most sold product category.</a:t>
            </a:r>
          </a:p>
          <a:p>
            <a:pPr marL="899581" lvl="1" indent="-449790" algn="ctr">
              <a:lnSpc>
                <a:spcPts val="5833"/>
              </a:lnSpc>
              <a:spcBef>
                <a:spcPct val="0"/>
              </a:spcBef>
              <a:buFont typeface="Arial"/>
              <a:buChar char="•"/>
            </a:pPr>
            <a:r>
              <a:rPr lang="en-US" sz="4166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Sales and order counts are evenly distributed across all regions.</a:t>
            </a:r>
          </a:p>
          <a:p>
            <a:pPr marL="899581" lvl="1" indent="-449790" algn="ctr">
              <a:lnSpc>
                <a:spcPts val="5833"/>
              </a:lnSpc>
              <a:spcBef>
                <a:spcPct val="0"/>
              </a:spcBef>
              <a:buFont typeface="Arial"/>
              <a:buChar char="•"/>
            </a:pPr>
            <a:r>
              <a:rPr lang="en-US" sz="4166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All product categories and regions generate similar revenue, with only minor differences.</a:t>
            </a:r>
          </a:p>
          <a:p>
            <a:pPr marL="899581" lvl="1" indent="-449790" algn="ctr">
              <a:lnSpc>
                <a:spcPts val="5833"/>
              </a:lnSpc>
              <a:spcBef>
                <a:spcPct val="0"/>
              </a:spcBef>
              <a:buFont typeface="Arial"/>
              <a:buChar char="•"/>
            </a:pPr>
            <a:r>
              <a:rPr lang="en-US" sz="4166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Higher expenses generally reduce net profit, regardless of sales channel, and there is no clear winner among channels.</a:t>
            </a:r>
          </a:p>
          <a:p>
            <a:pPr marL="899581" lvl="1" indent="-449790" algn="ctr">
              <a:lnSpc>
                <a:spcPts val="5833"/>
              </a:lnSpc>
              <a:spcBef>
                <a:spcPct val="0"/>
              </a:spcBef>
              <a:buFont typeface="Arial"/>
              <a:buChar char="•"/>
            </a:pPr>
            <a:r>
              <a:rPr lang="en-US" sz="4166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data shows stability and balance, with no extreme outliers or dominant regions, categories, or channels.</a:t>
            </a:r>
          </a:p>
          <a:p>
            <a:pPr algn="ctr">
              <a:lnSpc>
                <a:spcPts val="5833"/>
              </a:lnSpc>
              <a:spcBef>
                <a:spcPct val="0"/>
              </a:spcBef>
            </a:pPr>
            <a:endParaRPr lang="en-US" sz="4166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828</Words>
  <Application>Microsoft Office PowerPoint</Application>
  <PresentationFormat>Custom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Alice Bold</vt:lpstr>
      <vt:lpstr>Calibri</vt:lpstr>
      <vt:lpstr>Alice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Finance Outlook - EDA Report using Python</dc:title>
  <cp:lastModifiedBy>Vaibhav Raj</cp:lastModifiedBy>
  <cp:revision>2</cp:revision>
  <dcterms:created xsi:type="dcterms:W3CDTF">2006-08-16T00:00:00Z</dcterms:created>
  <dcterms:modified xsi:type="dcterms:W3CDTF">2025-04-23T16:07:07Z</dcterms:modified>
  <dc:identifier>DAGlcAitM5I</dc:identifier>
</cp:coreProperties>
</file>